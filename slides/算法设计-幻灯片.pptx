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总体架构概览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南京信息工程大学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DF0D5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字形输入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书法图像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111556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FDF0D5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1155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骨架提取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111556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03049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1155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风格编码器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StyleEncoder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111556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003049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1155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内容编码器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ContentEncoder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40880" y="11155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1121F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115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双分支生成器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38528" y="1389888"/>
            <a:ext cx="182880" cy="54864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3592" y="1389888"/>
            <a:ext cx="182880" cy="54864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1389888"/>
            <a:ext cx="182880" cy="54864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85432" y="1389888"/>
            <a:ext cx="182880" cy="54864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975104"/>
            <a:ext cx="8321040" cy="27432"/>
          </a:xfrm>
          <a:prstGeom prst="rect">
            <a:avLst/>
          </a:prstGeom>
          <a:solidFill>
            <a:srgbClr val="E0D9C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084832"/>
            <a:ext cx="2057400" cy="2468880"/>
          </a:xfrm>
          <a:prstGeom prst="roundRect">
            <a:avLst>
              <a:gd name="adj" fmla="val 4444"/>
            </a:avLst>
          </a:prstGeom>
          <a:solidFill>
            <a:srgbClr val="FDF0D5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305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数据预处理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487168"/>
            <a:ext cx="1828800" cy="22860"/>
          </a:xfrm>
          <a:prstGeom prst="rect">
            <a:avLst/>
          </a:prstGeom>
          <a:solidFill>
            <a:srgbClr val="C0BAB0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52374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Zhang-Suen 细化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提取笔画骨架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图像增强 ×N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2084832"/>
            <a:ext cx="2057400" cy="2468880"/>
          </a:xfrm>
          <a:prstGeom prst="roundRect">
            <a:avLst>
              <a:gd name="adj" fmla="val 4444"/>
            </a:avLst>
          </a:prstGeom>
          <a:solidFill>
            <a:srgbClr val="EEF3F7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1305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风格编码器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2487168"/>
            <a:ext cx="1828800" cy="22860"/>
          </a:xfrm>
          <a:prstGeom prst="rect">
            <a:avLst/>
          </a:prstGeom>
          <a:solidFill>
            <a:srgbClr val="C0BAB0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52374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5层卷积下采样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自注意力机制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128维风格向量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28032" y="2084832"/>
            <a:ext cx="2057400" cy="2468880"/>
          </a:xfrm>
          <a:prstGeom prst="roundRect">
            <a:avLst>
              <a:gd name="adj" fmla="val 4444"/>
            </a:avLst>
          </a:prstGeom>
          <a:solidFill>
            <a:srgbClr val="FFF0F0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1305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双分支生成器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2487168"/>
            <a:ext cx="1828800" cy="22860"/>
          </a:xfrm>
          <a:prstGeom prst="rect">
            <a:avLst/>
          </a:prstGeom>
          <a:solidFill>
            <a:srgbClr val="C0BAB0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252374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内容分支 + 风格分支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AdaIN 风格注入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门控特征融合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2084832"/>
            <a:ext cx="2057400" cy="2468880"/>
          </a:xfrm>
          <a:prstGeom prst="roundRect">
            <a:avLst>
              <a:gd name="adj" fmla="val 4444"/>
            </a:avLst>
          </a:prstGeom>
          <a:solidFill>
            <a:srgbClr val="F5F3EE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1305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综合损失函数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86600" y="2487168"/>
            <a:ext cx="1828800" cy="22860"/>
          </a:xfrm>
          <a:prstGeom prst="rect">
            <a:avLst/>
          </a:prstGeom>
          <a:solidFill>
            <a:srgbClr val="C0BAB0"/>
          </a:solidFill>
          <a:ln w="12700">
            <a:solidFill>
              <a:srgbClr val="C0BA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52374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对抗损失 + 感知损失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风格损失 + 内容损失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风格分类损失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风格编码器 &amp; 内容编码器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南京信息工程大学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StyleEncoder  风格编码器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书法灰度图  (B, 1, H, W)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风格隐向量  (B, 128)  — L2 归一化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65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1965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5层卷积下采样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89888" y="2148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 → InstanceNorm → LeakyReLU  ×5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256→128→64→32→16→8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9631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2496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自注意力模块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89888" y="2679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SelfAttention (SAGAN风格)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增强全局风格特征提取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266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3026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全局平均池化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89888" y="32095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AdaptiveAvgPool2d(1)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聚合空间特征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55701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5701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89888" y="35570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全连接层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89888" y="3739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FC: 512→256→ReLU→128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L2 归一化输出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114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支持风格插值：interpolate(s1, s2, α)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支持多风格混合：mix(styles, weights)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91440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9144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ContentEncoder  内容编码器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字形骨架图  (B, 1, H, W)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内容特征图  (B, 256, H', W')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19659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965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70448" y="1965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4层卷积下采样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70448" y="2148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 → InstanceNorm → LeakyReLU  ×4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保留结构空间信息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2532888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53288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70448" y="25328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特征精炼层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70448" y="2715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Conv→IN→LeakyReLU（保持空间尺寸）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256通道语义特征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37760" y="3099816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09981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870448" y="30998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骨架预处理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70448" y="32826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Zhang-Suen 细化算法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提取纯笔画骨架（二值图）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19472" y="36576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EEF3F7"/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自注意力模块 (SelfAttention)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0" y="39776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K = Conv1×1(C→C/8)  |  V = Conv1×1(C→C)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 = Softmax(Q·Kᵀ)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γ × V·Attn + x   (γ可学习, 初始为0)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双分支生成器 — Generator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南京信息工程大学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475488"/>
          </a:xfrm>
          <a:prstGeom prst="roundRect">
            <a:avLst>
              <a:gd name="adj" fmla="val 15385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核心创新：双分支架构  —  内容分支（Structure）保持笔画结构 × 风格分支（Style）注入书法风格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8503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329184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093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内容分支  Content Branch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ContentEncoder 特征图  (B, 256, H, W)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4层上采样 + InstanceNorm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64×64×64 → 128×128×64 → 256×256×32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13632" y="1920240"/>
            <a:ext cx="347472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572768"/>
            <a:ext cx="658368" cy="777240"/>
          </a:xfrm>
          <a:prstGeom prst="roundRect">
            <a:avLst>
              <a:gd name="adj" fmla="val 8333"/>
            </a:avLst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1572768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47488" y="1572768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DF0D5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6093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风格分支  Style Branch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38928" y="1920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StyleEncoder 向量  (B, 128)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 → Broadcast → 空间调制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调制内容分支每层特征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50224" y="1920240"/>
            <a:ext cx="54864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43200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797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AdaIN（自适应实例归一化）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1089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AdaIN(x, y) = y_s × (x − μ(x)) / σ(x) + y_b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其中: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y_s = FC(style) → 缩放因子 (Scale)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y_b = FC(style) → 偏置因子 (Bias)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将风格向量 y 的均值/方差迁移到内容特征 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743200"/>
            <a:ext cx="4087368" cy="1691640"/>
          </a:xfrm>
          <a:prstGeom prst="roundRect">
            <a:avLst>
              <a:gd name="adj" fmla="val 5405"/>
            </a:avLst>
          </a:prstGeom>
          <a:solidFill>
            <a:srgbClr val="F5F3EE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7797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门控特征融合  Gated Fusion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108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g · G + (1 − g) · x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   = Conv(Concat(style_feat, content_feat))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   = σ(Conv(Concat(style_feat, content_feat)))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∈ [0,1] — 学习到的软门控权重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融合风格细节与内容结构的双重信息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24528" y="4526280"/>
            <a:ext cx="713232" cy="6400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440740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4074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书法生成图  (B, 1, 256, 256)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判别器 &amp; 自注意力机制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南京信息工程大学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02336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PatchGAN 判别器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书法图像对 (真实/生成)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27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Patch级矩阵 (B, 1, H/64, W/64)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29184" cy="329184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19202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输入拼接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Concat(源图像, 目标图像)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强制判别器学习内容对应关系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96312"/>
            <a:ext cx="329184" cy="329184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96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4963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6层卷积下采样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6112" y="26791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C64→C128→C256→C512→C512→C1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逐步提取细粒度纹理差异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0723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LeakyReLU + Dropout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32552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α=0.2, rate=0.3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防止判别器过强（mode collapse）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48456"/>
            <a:ext cx="329184" cy="329184"/>
          </a:xfrm>
          <a:prstGeom prst="ellipse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48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64845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Spectral Normalization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6112" y="38313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 W 的谱范数为1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稳定GAN训练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379476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669B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1330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PatchGAN优势：逐块判别 → 关注局部纹理细节（笔画粗细、墨色浓淡）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896112"/>
            <a:ext cx="402336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E0D9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896112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8961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Self-Attention (SAGAN)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作用：为生成器提供全局感受野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1627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捕捉远距离笔画间的风格关联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1938528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19933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计算流程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2267712"/>
            <a:ext cx="3584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Query:  Q = Conv(x)  → (B, C/8, H, W)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Key:     K = Conv(x)  → (B, C/8, H, W)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Value:   V = Conv(x)  → (B, C,    H, W)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注意力:  A = Softmax(Q ⊙ Kᵀ)  ∈ (B, HW, HW)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输出:     O = γ·(V ⊙ A) + x     (γ可学习, 初始0)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3712464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DF0D5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3749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为什么需要注意力？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47488" y="4023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卷积只能捕捉局部邻域信息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书法风格 = 远距离笔画的整体协调性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自注意力 → 建模任意两点间的风格相关性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综合损失函数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南京信息工程大学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总损失函数    L_total = λ₁·L_adv + λ₂·L_perc + λ₃·L_style + λ₄·L_content + λ₅·L_cls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1600200" cy="2423160"/>
          </a:xfrm>
          <a:prstGeom prst="roundRect">
            <a:avLst>
              <a:gd name="adj" fmla="val 4571"/>
            </a:avLst>
          </a:prstGeom>
          <a:solidFill>
            <a:srgbClr val="FFF0F0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91056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L_adv  对抗损失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" y="1883664"/>
            <a:ext cx="1453896" cy="228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92024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L_adv = −E[log D(x, G(c,s))]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Minimax博弈: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min_G max_D E[log D(real)]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+ E[log(1−D(G(c,s)))]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" y="3291840"/>
            <a:ext cx="1490472" cy="594360"/>
          </a:xfrm>
          <a:prstGeom prst="roundRect">
            <a:avLst>
              <a:gd name="adj" fmla="val 9231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驱动生成器欺骗判别器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93392" y="1554480"/>
            <a:ext cx="1600200" cy="2423160"/>
          </a:xfrm>
          <a:prstGeom prst="roundRect">
            <a:avLst>
              <a:gd name="adj" fmla="val 4571"/>
            </a:avLst>
          </a:prstGeom>
          <a:solidFill>
            <a:srgbClr val="EEF3F7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1591056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L_perc  感知损失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66544" y="1883664"/>
            <a:ext cx="1453896" cy="2286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6544" y="192024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VGG19 预训练权重视为特征提取器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L_perc = Σ||VGG(y) − VGG(G)||₁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48256" y="3291840"/>
            <a:ext cx="1490472" cy="594360"/>
          </a:xfrm>
          <a:prstGeom prst="roundRect">
            <a:avLst>
              <a:gd name="adj" fmla="val 9231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保证生成图像的视觉真实性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66744" y="1554480"/>
            <a:ext cx="1600200" cy="2423160"/>
          </a:xfrm>
          <a:prstGeom prst="roundRect">
            <a:avLst>
              <a:gd name="adj" fmla="val 4571"/>
            </a:avLst>
          </a:prstGeom>
          <a:solidFill>
            <a:srgbClr val="FDF0D5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591056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L_style  风格损失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39896" y="1883664"/>
            <a:ext cx="1453896" cy="2286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192024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Gram矩阵: Gᵢⱼ = Fᵢ·Fⱼ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L_style = Σ||G(VGG(y)) − G(VGG(G)))||₁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21608" y="3291840"/>
            <a:ext cx="1490472" cy="594360"/>
          </a:xfrm>
          <a:prstGeom prst="roundRect">
            <a:avLst>
              <a:gd name="adj" fmla="val 9231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58184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迁移书法家的笔触纹理特征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0096" y="1554480"/>
            <a:ext cx="1600200" cy="2423160"/>
          </a:xfrm>
          <a:prstGeom prst="roundRect">
            <a:avLst>
              <a:gd name="adj" fmla="val 4571"/>
            </a:avLst>
          </a:prstGeom>
          <a:solidFill>
            <a:srgbClr val="F5F3EE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1591056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L_content  内容损失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13248" y="1883664"/>
            <a:ext cx="1453896" cy="22860"/>
          </a:xfrm>
          <a:prstGeom prst="rect">
            <a:avLst/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1920240"/>
            <a:ext cx="1453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L_content = ||Content(G) − Content(y)||₁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Encoder输出的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深层语义特征图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3291840"/>
            <a:ext cx="1490472" cy="594360"/>
          </a:xfrm>
          <a:prstGeom prst="roundRect">
            <a:avLst>
              <a:gd name="adj" fmla="val 9231"/>
            </a:avLst>
          </a:prstGeom>
          <a:solidFill>
            <a:srgbClr val="003049"/>
          </a:solidFill>
          <a:ln w="12700">
            <a:solidFill>
              <a:srgbClr val="0030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保持字形结构和可辨识度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13448" y="1554480"/>
            <a:ext cx="1810512" cy="2423160"/>
          </a:xfrm>
          <a:prstGeom prst="roundRect">
            <a:avLst>
              <a:gd name="adj" fmla="val 4040"/>
            </a:avLst>
          </a:prstGeom>
          <a:solidFill>
            <a:srgbClr val="EEF3F7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159105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L_cls  风格分类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86600" y="1883664"/>
            <a:ext cx="1664208" cy="2286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920240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辅助分类器: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判断生成图像的书法风格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30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增强生成器对风格的感知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68312" y="3291840"/>
            <a:ext cx="1700784" cy="594360"/>
          </a:xfrm>
          <a:prstGeom prst="roundRect">
            <a:avLst>
              <a:gd name="adj" fmla="val 9231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04888" y="329184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确保生成书法属于目标风格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06908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096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关键细节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8912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VGG19 感知损失必须加载 ImageNet 预训练权重（不要设置 pretrained=False，否则随机初始化权重会导致感知损失失效）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南京信息工程大学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书法风格迁移算法设计</dc:title>
  <dc:subject>PptxGenJS Presentation</dc:subject>
  <dc:creator>杨辉</dc:creator>
  <cp:lastModifiedBy>杨辉</cp:lastModifiedBy>
  <cp:revision>1</cp:revision>
  <dcterms:created xsi:type="dcterms:W3CDTF">2026-04-21T10:18:52Z</dcterms:created>
  <dcterms:modified xsi:type="dcterms:W3CDTF">2026-04-21T10:18:52Z</dcterms:modified>
</cp:coreProperties>
</file>